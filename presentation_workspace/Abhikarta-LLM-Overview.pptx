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5813" y="1171724"/>
            <a:ext cx="299237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172361" y="1838474"/>
            <a:ext cx="27992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Orchestration Platform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203268" y="2287935"/>
            <a:ext cx="7373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1.4.6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235523" y="2804071"/>
            <a:ext cx="704999" cy="622846"/>
          </a:xfrm>
          <a:prstGeom prst="roundRect">
            <a:avLst>
              <a:gd name="adj" fmla="val 9176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03352" y="2899321"/>
            <a:ext cx="36934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403352" y="3211711"/>
            <a:ext cx="3693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092922" y="2804071"/>
            <a:ext cx="814983" cy="622846"/>
          </a:xfrm>
          <a:prstGeom prst="roundRect">
            <a:avLst>
              <a:gd name="adj" fmla="val 9176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59651" y="2899321"/>
            <a:ext cx="48152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259651" y="3211711"/>
            <a:ext cx="4815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060305" y="2804071"/>
            <a:ext cx="848023" cy="622846"/>
          </a:xfrm>
          <a:prstGeom prst="roundRect">
            <a:avLst>
              <a:gd name="adj" fmla="val 9176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26704" y="2899321"/>
            <a:ext cx="51522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226704" y="3211711"/>
            <a:ext cx="515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259802" y="3865066"/>
            <a:ext cx="26242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All Rights Reserved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16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 in Enterprise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41450"/>
            <a:ext cx="8382000" cy="60186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936700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Traditional AI to Generative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2108150"/>
            <a:ext cx="83553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excelled at classification and prediction. Generative AI (GenAI) creates new content - text, code, images, analysis. Large Language Models (LLMs) like GPT-4, Claude, and Llama have transformed what machines can accomplish.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519511"/>
            <a:ext cx="8382000" cy="672108"/>
          </a:xfrm>
          <a:prstGeom prst="roundRect">
            <a:avLst>
              <a:gd name="adj" fmla="val 56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519511"/>
            <a:ext cx="0" cy="67210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595711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757636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estimates GenAI could add $2.6-4.4 trillion annually across industries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883247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of organizations are exploring AI agents for automation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300885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work productivity gains of 20-40% are achievable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81000" y="3267819"/>
            <a:ext cx="8382000" cy="420886"/>
          </a:xfrm>
          <a:prstGeom prst="roundRect">
            <a:avLst>
              <a:gd name="adj" fmla="val 9052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3267819"/>
            <a:ext cx="0" cy="420886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775" y="3344019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5775" y="350594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44% have security policies for AI. Most lack governance, oversight, and control.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Agentic AI?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985218"/>
            <a:ext cx="8382000" cy="481905"/>
          </a:xfrm>
          <a:prstGeom prst="roundRect">
            <a:avLst>
              <a:gd name="adj" fmla="val 118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080468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2251918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refers to AI systems that can autonomously plan, reason, use tools, and take actions to accomplish goals. Unlike simple chatbots, agents iterate until objectives are achieved.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543324"/>
            <a:ext cx="4152900" cy="639663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543324"/>
            <a:ext cx="0" cy="639663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619524"/>
            <a:ext cx="4051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5775" y="2768054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response to query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884140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access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3000226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across turns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610100" y="2543324"/>
            <a:ext cx="4152900" cy="639663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24388" y="2543324"/>
            <a:ext cx="0" cy="639663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4875" y="2619524"/>
            <a:ext cx="4051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714875" y="2768054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iterates to goal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14875" y="2884140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tools (DB, API, code)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714875" y="3000226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context and memory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1000" y="3259187"/>
            <a:ext cx="83820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3335387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Components: LLM + Tools + Memory + Reasoning + Goals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043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Orchestration Matters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697831"/>
            <a:ext cx="8382000" cy="443805"/>
          </a:xfrm>
          <a:prstGeom prst="roundRect">
            <a:avLst>
              <a:gd name="adj" fmla="val 8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77403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 for Orchestration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945481"/>
            <a:ext cx="8394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enterprise tasks require multiple AI agents working together - research teams, approval chains, multi-step workflows. Orchestration coordinates these agents for reliable, governed outcomes.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217837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217837"/>
            <a:ext cx="0" cy="769144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294037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Orchestration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455962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- employees use ChatGPT without oversight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57204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for compliance or debugging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268813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spiral without rate limiting or quotas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5775" y="2804220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oversight on critical decisions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3063180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3063180"/>
            <a:ext cx="0" cy="769144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" y="3139380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Orchestration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5775" y="330130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governance and visibility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5775" y="341739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logging for compliance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85775" y="3533477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 with usage limits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85775" y="3649563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at every level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448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Abhikarta-LLM for Enterprise?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06067"/>
            <a:ext cx="8382000" cy="443805"/>
          </a:xfrm>
          <a:prstGeom prst="roundRect">
            <a:avLst>
              <a:gd name="adj" fmla="val 8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82267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Enterprise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353717"/>
            <a:ext cx="8394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addresses the governance gap in enterprise AI adoption. While other frameworks focus on capabilities, Abhikarta prioritizes security, oversight, and organizational alignment.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626072"/>
            <a:ext cx="203835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626072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725" y="268322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6725" y="282222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LLM providers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466725" y="292506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lock-in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2495550" y="2626072"/>
            <a:ext cx="203835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09838" y="2626072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1275" y="268322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581275" y="282222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agent builder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2581275" y="292506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workflow editor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4610100" y="2626072"/>
            <a:ext cx="2038350" cy="449461"/>
          </a:xfrm>
          <a:prstGeom prst="roundRect">
            <a:avLst>
              <a:gd name="adj" fmla="val 8477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24388" y="2626072"/>
            <a:ext cx="0" cy="449461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5825" y="268322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Organizations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95825" y="282222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Patent-pending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4695825" y="292506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+ HITL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6724650" y="2626072"/>
            <a:ext cx="203835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38938" y="2626072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0375" y="268322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RBAC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810375" y="282222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Model-level perms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6810375" y="2925068"/>
            <a:ext cx="193338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trails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381000" y="3151733"/>
            <a:ext cx="8382000" cy="272355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3227933"/>
            <a:ext cx="8394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Safe, governed AI that aligns with how enterprises actually operate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31" name="Text 29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2199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316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83162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825" y="18887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Market Challenges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1554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15547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825" y="22126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Platform 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4793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47932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825" y="25364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Multi-Provider LLM Support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28031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803178"/>
            <a:ext cx="0" cy="247650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825" y="28603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Agent Framework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1270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3127028"/>
            <a:ext cx="0" cy="247650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825" y="31841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Workflow DAG System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34508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95288" y="3450878"/>
            <a:ext cx="0" cy="247650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825" y="35080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Agent Swarms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18316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2488" y="1831628"/>
            <a:ext cx="0" cy="247650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2025" y="18887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AI Organizations (Patent)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48200" y="21554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215547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22126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RBAC and Security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48200" y="24793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62488" y="247932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5364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Notifications Integration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48200" y="28031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62488" y="280317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2025" y="28603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Use Cases with Examples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48200" y="312702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62488" y="312702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2025" y="318417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Competitive Analysis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48200" y="3450878"/>
            <a:ext cx="41148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62488" y="3450878"/>
            <a:ext cx="0" cy="24765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2025" y="3508028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Appendix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42" name="Text 40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198321" y="2156520"/>
            <a:ext cx="27472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96199" y="2689920"/>
            <a:ext cx="19516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solved by Abhikarta-LLM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93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Provider Lock-In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14810"/>
            <a:ext cx="8382000" cy="912168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814810"/>
            <a:ext cx="0" cy="912168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825" y="1910060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2094756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commit to single LLM provider (OpenAI, Anthropic, etc.)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04825" y="2233761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Provider-specific code patterns create high switching costs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04825" y="2372767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changes impact budgets with no alternatives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04825" y="2511772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disruptions halt production workloads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803178"/>
            <a:ext cx="8382000" cy="912168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803178"/>
            <a:ext cx="0" cy="91216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825" y="2898428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4825" y="3083123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abstraction layer across 11+ providers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04825" y="3222129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works with any provider - switch via config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04825" y="3361134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failover between providers on errors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04825" y="3500140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Best-of-breed model selection per use case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21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AI Governance Gaps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14810"/>
            <a:ext cx="8382000" cy="912168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814810"/>
            <a:ext cx="0" cy="912168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825" y="1910060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2094756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proliferates - employees use ChatGPT without oversight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04825" y="2233761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leaked to external AI services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04825" y="2372767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for AI-generated content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04825" y="2511772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gaps (GDPR, HIPAA, SOX)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803178"/>
            <a:ext cx="8382000" cy="912168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803178"/>
            <a:ext cx="0" cy="91216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825" y="2898428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4825" y="3083123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 with RBAC at model level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04825" y="3222129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logging of all LLM interactions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04825" y="3361134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per user, team, organization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04825" y="3500140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Ollama models for sensitive workloads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8731151" y="4777829"/>
            <a:ext cx="3248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988374" y="2156520"/>
            <a:ext cx="31672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73316" y="2689920"/>
            <a:ext cx="17973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and components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547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28081"/>
            <a:ext cx="8382000" cy="359866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4335" y="2085231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94335" y="2224236"/>
            <a:ext cx="83553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(Bootstrap 5) | REST API | Admin Console | CLI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81000" y="2464147"/>
            <a:ext cx="8382000" cy="60186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 w="19050">
            <a:solidFill>
              <a:srgbClr val="0079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4335" y="2559397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CORE (Flask + SQLAlchemy)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" y="2749897"/>
            <a:ext cx="1990725" cy="220861"/>
          </a:xfrm>
          <a:prstGeom prst="roundRect">
            <a:avLst>
              <a:gd name="adj" fmla="val 17251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636" y="2807047"/>
            <a:ext cx="19139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543175" y="2749897"/>
            <a:ext cx="1990725" cy="220861"/>
          </a:xfrm>
          <a:prstGeom prst="roundRect">
            <a:avLst>
              <a:gd name="adj" fmla="val 17251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81561" y="2807047"/>
            <a:ext cx="19139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DAG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610100" y="2749897"/>
            <a:ext cx="1990725" cy="220861"/>
          </a:xfrm>
          <a:prstGeom prst="roundRect">
            <a:avLst>
              <a:gd name="adj" fmla="val 17251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48486" y="2807047"/>
            <a:ext cx="19139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 Manager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677025" y="2749897"/>
            <a:ext cx="1990725" cy="220861"/>
          </a:xfrm>
          <a:prstGeom prst="roundRect">
            <a:avLst>
              <a:gd name="adj" fmla="val 17251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15411" y="2807047"/>
            <a:ext cx="19139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Security/RBAC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3142208"/>
            <a:ext cx="8382000" cy="359866"/>
          </a:xfrm>
          <a:prstGeom prst="roundRect">
            <a:avLst>
              <a:gd name="adj" fmla="val 10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4335" y="3199358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 (11+ Unified)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4335" y="3338364"/>
            <a:ext cx="83553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(Default) | OpenAI | Anthropic | Google | Azure | AWS | Groq | Mistral | Cohere | Together | HuggingFace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8703618" y="4777829"/>
            <a:ext cx="6057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263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962025"/>
            <a:ext cx="4000500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962025"/>
            <a:ext cx="0" cy="65305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775" y="1038225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5775" y="1200150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agents: Persona + Tools + Memory + Knowledge Base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85775" y="1316236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reasoning patterns: ReAct, CoT, ToT, Reflexion, Hierarchical, Goal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85775" y="1432322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integration for external services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457700" y="962025"/>
            <a:ext cx="4000500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71988" y="962025"/>
            <a:ext cx="0" cy="65305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475" y="1038225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62475" y="1200150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orchestration with topological execution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62475" y="1316236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node types including Python code nodes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62475" y="1432322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 with HITL approval gates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1691283"/>
            <a:ext cx="4000500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1691283"/>
            <a:ext cx="0" cy="653058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" y="1767483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Organization Manager (Patent Pending)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5775" y="1929408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of corporate hierarchy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85775" y="2045494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delegation down, response aggregation up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85775" y="2161580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mirrors with configurable autonomy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457700" y="1691283"/>
            <a:ext cx="4000500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471988" y="1691283"/>
            <a:ext cx="0" cy="653058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475" y="1767483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62475" y="1929408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with role to permission to model mapping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62475" y="2045494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management with scoped access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62475" y="2161580"/>
            <a:ext cx="38959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and complete audit trails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525371" y="2156520"/>
            <a:ext cx="4093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LLM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93810" y="2689920"/>
            <a:ext cx="17563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access to 11+ providers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7814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LLM Providers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0b0e51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36725"/>
            <a:ext cx="2038350" cy="411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341" y="2212925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(DEFAULT)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38341" y="2378571"/>
            <a:ext cx="192366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Local, Private</a:t>
            </a:r>
            <a:endParaRPr lang="en-US" sz="525" dirty="0"/>
          </a:p>
        </p:txBody>
      </p:sp>
      <p:sp>
        <p:nvSpPr>
          <p:cNvPr id="8" name="Text 5"/>
          <p:cNvSpPr/>
          <p:nvPr/>
        </p:nvSpPr>
        <p:spPr>
          <a:xfrm>
            <a:off x="2495550" y="2136725"/>
            <a:ext cx="2038350" cy="411361"/>
          </a:xfrm>
          <a:prstGeom prst="roundRect">
            <a:avLst>
              <a:gd name="adj" fmla="val 138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52891" y="2212925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552891" y="2378571"/>
            <a:ext cx="192366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GPT-4o, o1, o3</a:t>
            </a:r>
            <a:endParaRPr lang="en-US" sz="525" dirty="0"/>
          </a:p>
        </p:txBody>
      </p:sp>
      <p:sp>
        <p:nvSpPr>
          <p:cNvPr id="11" name="Text 8"/>
          <p:cNvSpPr/>
          <p:nvPr/>
        </p:nvSpPr>
        <p:spPr>
          <a:xfrm>
            <a:off x="4610100" y="2136725"/>
            <a:ext cx="2038350" cy="411361"/>
          </a:xfrm>
          <a:prstGeom prst="roundRect">
            <a:avLst>
              <a:gd name="adj" fmla="val 138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67441" y="2212925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67441" y="2378571"/>
            <a:ext cx="192366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4.5</a:t>
            </a:r>
            <a:endParaRPr lang="en-US" sz="525" dirty="0"/>
          </a:p>
        </p:txBody>
      </p:sp>
      <p:sp>
        <p:nvSpPr>
          <p:cNvPr id="14" name="Text 11"/>
          <p:cNvSpPr/>
          <p:nvPr/>
        </p:nvSpPr>
        <p:spPr>
          <a:xfrm>
            <a:off x="6724650" y="2136725"/>
            <a:ext cx="2038350" cy="411361"/>
          </a:xfrm>
          <a:prstGeom prst="roundRect">
            <a:avLst>
              <a:gd name="adj" fmla="val 138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81991" y="2212925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781991" y="2378571"/>
            <a:ext cx="192366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</a:t>
            </a:r>
            <a:endParaRPr lang="en-US" sz="525" dirty="0"/>
          </a:p>
        </p:txBody>
      </p:sp>
      <p:sp>
        <p:nvSpPr>
          <p:cNvPr id="17" name="Text 14"/>
          <p:cNvSpPr/>
          <p:nvPr/>
        </p:nvSpPr>
        <p:spPr>
          <a:xfrm>
            <a:off x="381000" y="2624286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7200" y="270048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Configuration (Admin - Providers)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286241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Add/edit providers with API keys securely stored in database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57200" y="2978497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base URLs for self-hosted endpoints (Azure, vLLM)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57200" y="3094583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rate limits (RPM/TPM) per provider with test connectivity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57200" y="321066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Enable/disable providers and models with one click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387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API Benefits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41748"/>
            <a:ext cx="8382000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17948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API Endpoints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079873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/api/v1/complete - Unified completion across any provider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19595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/api/v1/chat - Multi-turn conversations with history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31204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/api/v1/embed - Generate embeddings for RAG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42813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/api/v1/agents/id/execute - Run agent with tools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2544217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/api/v1/workflows/id/execute - Run workflow DAG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81000" y="2803178"/>
            <a:ext cx="8382000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803178"/>
            <a:ext cx="0" cy="88523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" y="2879378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3041303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API for any provider - switch via provider parameter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75" y="3157389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error handling with automatic retry logic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85775" y="327347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support for all providers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85775" y="338956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usage metrics and cost tracking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5775" y="3505646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OpenAPI/Swagger documentation at /api/docs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259041" y="2156520"/>
            <a:ext cx="26259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82008" y="2689920"/>
            <a:ext cx="15799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AI agents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4465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Agent?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985367"/>
            <a:ext cx="8382000" cy="481905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080617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2252067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is an autonomous entity combining an LLM with tools, memory, and reasoning patterns to accomplish tasks. Unlike chatbots, agents plan, use tools, iterate until goals are achieved.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543473"/>
            <a:ext cx="8382000" cy="1001316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543473"/>
            <a:ext cx="0" cy="1001316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619673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Components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78159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Persona: System prompt defining role, expertise, constraints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89768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The language model from any provider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3013770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Functions the agent can call (DB, API, File, MCP)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5775" y="312985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Conversation history, working memory, long-term KB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85775" y="324594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Reasoning: Pattern for thinking (ReAct, CoT, ToT, Reflexion)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75" y="3362027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HITL: Human checkpoints for oversight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821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Reasoning Patterns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962025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962025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775" y="1019175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(Reason + Act)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85775" y="1158180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then Act then Observe then Repeat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485775" y="126102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multi-step tasks with tools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3124200" y="962025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38488" y="962025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8975" y="1019175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(CoT)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228975" y="1158180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reasoning before answer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3228975" y="126102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math, logic, analysis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5867400" y="962025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881688" y="962025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2175" y="1019175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Tree-of-Thoughts (ToT)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972175" y="1158180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multiple paths, backtrack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5972175" y="126102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creative, open-ended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381000" y="1487686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95288" y="1487686"/>
            <a:ext cx="0" cy="449461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" y="1544836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5775" y="168384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and improve iteratively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485775" y="1786682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quality refinement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3124200" y="1487686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138488" y="1487686"/>
            <a:ext cx="0" cy="449461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8975" y="1544836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228975" y="168384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delegates to worker agents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3228975" y="1786682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complex decomposition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5867400" y="1487686"/>
            <a:ext cx="2667000" cy="449461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881688" y="1487686"/>
            <a:ext cx="0" cy="44946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2175" y="1544836"/>
            <a:ext cx="2535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Goal-Based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972175" y="1683841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goal, plan, execute, replan</a:t>
            </a:r>
            <a:endParaRPr lang="en-US" sz="525" dirty="0"/>
          </a:p>
        </p:txBody>
      </p:sp>
      <p:sp>
        <p:nvSpPr>
          <p:cNvPr id="34" name="Text 32"/>
          <p:cNvSpPr/>
          <p:nvPr/>
        </p:nvSpPr>
        <p:spPr>
          <a:xfrm>
            <a:off x="5972175" y="1786682"/>
            <a:ext cx="25357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autonomous objectives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543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 Integration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709291"/>
            <a:ext cx="8382000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78549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 Types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947416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Query SQLite, PostgreSQL, MySQL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063502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Call REST/GraphQL with auth headers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179588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Read/write files, parse PDF, Excel, CSV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295674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Web search, vector RAG retrieval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2411760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Execute Python in sandbox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81000" y="2670721"/>
            <a:ext cx="8382000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670721"/>
            <a:ext cx="0" cy="653058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" y="2746921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 Integration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2908846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external MCP servers as agent tools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75" y="3024932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Pre-built: Filesystem, GitHub, Slack, Postgres, Puppeteer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85775" y="314101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of MCP tool schemas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3399979"/>
            <a:ext cx="8382000" cy="420886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476179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Tool Management (Admin - Tools)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638104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Browse/enable tools per agent | Configure parameters | Test before save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549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Agents via UI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48334"/>
            <a:ext cx="8382000" cy="1233488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224534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Agent Designer (Agents - New)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38645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Basic Info: Name, description, category, tags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50254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Provider/Model: Select from dropdown (Ollama default)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61863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Persona: Rich text editor for system prompt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734717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Tools: Drag-drop from tool library, configure params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2850803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Knowledge Base: Upload docs for RAG retrieval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57200" y="296688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Reasoning: Select pattern (ReAct, CoT, etc.)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57200" y="308297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HITL: Configure approval checkpoints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7200" y="319906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Test: Interactive chat to validate before save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1456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Definition: JSON Format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24484"/>
            <a:ext cx="8382000" cy="1191816"/>
          </a:xfrm>
          <a:prstGeom prst="roundRect">
            <a:avLst>
              <a:gd name="adj" fmla="val 3197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00684"/>
            <a:ext cx="8394192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"Research Assistant",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 "model": "llama3.3:70b",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"persona": "You are a research assistant...",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"reasoning_pattern": "react",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{"type": "web_search", "config": {"max_results": 5}},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{"type": "file_read"},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{"type": "mcp", "server": "github"}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],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"knowledge_base": {"vector_store": "chroma"},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{"approval_required": ["web_search"]},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"max_iterations": 10, "temperature": 0.7}</a:t>
            </a:r>
            <a:endParaRPr lang="en-US" sz="525" dirty="0"/>
          </a:p>
        </p:txBody>
      </p:sp>
      <p:sp>
        <p:nvSpPr>
          <p:cNvPr id="7" name="Text 5"/>
          <p:cNvSpPr/>
          <p:nvPr/>
        </p:nvSpPr>
        <p:spPr>
          <a:xfrm>
            <a:off x="381000" y="3092500"/>
            <a:ext cx="8382000" cy="613321"/>
          </a:xfrm>
          <a:prstGeom prst="roundRect">
            <a:avLst>
              <a:gd name="adj" fmla="val 62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16870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Usage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3330625"/>
            <a:ext cx="83941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225"/>
              </a:spcBef>
              <a:buNone/>
            </a:pPr>
            <a:r>
              <a:rPr lang="en-US" sz="525" dirty="0">
                <a:solidFill>
                  <a:srgbClr val="1A3A5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abhikarta import Agent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457200" y="3433465"/>
            <a:ext cx="83941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1A3A5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 = Agent.from_json("agent.json")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457200" y="3536305"/>
            <a:ext cx="839419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1A3A5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 = agent.run("Analyze Q3 earnings")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890461" y="2156520"/>
            <a:ext cx="33629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DAG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83223" y="2689920"/>
            <a:ext cx="15775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pipeline orchestration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706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DAG Overview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62460"/>
            <a:ext cx="8382000" cy="443805"/>
          </a:xfrm>
          <a:prstGeom prst="roundRect">
            <a:avLst>
              <a:gd name="adj" fmla="val 8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3866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Workflow DAG?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310110"/>
            <a:ext cx="8394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Directed Acyclic Graph (DAG) represents multi-step AI pipelines where nodes are processing steps and edges define data flow. Workflows enable parallel execution, conditional logic, and human checkpoints.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582466"/>
            <a:ext cx="8382000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582466"/>
            <a:ext cx="0" cy="885230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658666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82059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Node Types: LLM, Agent, Tool, Python, Condition, Human...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936677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Execution: Nodes without dependencies run concurrently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3052763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Branching: Route based on output values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5775" y="316884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 Retry, fallback, or fail-fast per node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85775" y="328493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Nodes: Pause for human approval at any step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795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Workflows via UI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957834"/>
            <a:ext cx="8382000" cy="1117402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034034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Designer (Workflows - New)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19595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Canvas: Drag-drop nodes from palette onto canvas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31204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Connect: Draw edges between node outputs and inputs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42813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Configure: Click node to edit parameters in sidebar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544217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Python Code: Add Python nodes with syntax highlighting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2660303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Variables: Define workflow inputs, pass between nodes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57200" y="277638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Validate: Check for cycles, missing connections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57200" y="289247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Test Run: Execute with sample inputs before deploy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81000" y="3151436"/>
            <a:ext cx="8382000" cy="420886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3151436"/>
            <a:ext cx="0" cy="420886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775" y="3227636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Integration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5775" y="338956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Python with workflow context | Import existing files | pip install per workflow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3857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Definition: JSON Format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32546"/>
            <a:ext cx="8382000" cy="1042392"/>
          </a:xfrm>
          <a:prstGeom prst="roundRect">
            <a:avLst>
              <a:gd name="adj" fmla="val 365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08746"/>
            <a:ext cx="8394192" cy="889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"Document Analysis Pipeline",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"nodes": [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"extract", "type": "tool", "tool": "file_read"},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"summarize", "type": "llm", "provider": "ollama",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"prompt": "Summarize: {{extract.output}}"},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"approve", "type": "human", "message": "Review summary"},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"notify", "type": "tool", "tool": "slack_send"}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],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"edges": [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{"from": "extract", "to": "summarize"},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{"from": "summarize", "to": "approve"},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{"from": "approve", "to": "notify"}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]}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381000" y="3151138"/>
            <a:ext cx="8382000" cy="346621"/>
          </a:xfrm>
          <a:prstGeom prst="roundRect">
            <a:avLst>
              <a:gd name="adj" fmla="val 10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208288"/>
            <a:ext cx="8433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Usage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38150" y="3347293"/>
            <a:ext cx="843305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1A3A5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 = Workflow.from_json("pipeline.json").run({"file": "report.pdf"})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92213" y="2156520"/>
            <a:ext cx="21595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Swarms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34758" y="2689920"/>
            <a:ext cx="18744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multi-agent coordination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784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 Swarm?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920478"/>
            <a:ext cx="8382000" cy="481905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015728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2187178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Swarm is a collection of autonomous agents that collaborate dynamically. Unlike fixed workflows, swarms use event-driven coordination where agents respond to tasks based on capabilities.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478584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478584"/>
            <a:ext cx="0" cy="769144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554784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716709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Event-Driven: Agents react to events, not predefined sequences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283279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Self-Organizing: Agents claim tasks based on capabilities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2948880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 Add/remove agents without restructuring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5775" y="3064966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Tolerant: Other agents compensate for failures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3323927"/>
            <a:ext cx="8382000" cy="285750"/>
          </a:xfrm>
          <a:prstGeom prst="roundRect">
            <a:avLst>
              <a:gd name="adj" fmla="val 13333"/>
            </a:avLst>
          </a:prstGeom>
          <a:solidFill>
            <a:srgbClr val="FF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3323927"/>
            <a:ext cx="0" cy="285750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" y="3400127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Messaging: Kafka, RabbitMQ, ActiveMQ, built-in pub/sub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336917" y="2156520"/>
            <a:ext cx="24701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55478" y="2689920"/>
            <a:ext cx="22328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Patent-pending hierarchical governance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9297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Organization?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01453"/>
            <a:ext cx="8382000" cy="481905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196703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(Patent Pending)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2368153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Organization is a digital twin of a corporate hierarchy where each position is occupied by an AI agent. Tasks flow down (delegation) and responses flow up (aggregation), mirroring how real organizations work.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659559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659559"/>
            <a:ext cx="0" cy="769144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775" y="2735759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Solved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289768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Accountability: Clear ownership for AI decisions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85775" y="3013770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Delegation: Complex tasks decomposed naturally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85775" y="312985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Oversight: Every AI has a human mirror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85775" y="324594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Matches regulatory org structures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2750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Organization: JSON Definition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54423"/>
            <a:ext cx="8382000" cy="1110853"/>
          </a:xfrm>
          <a:prstGeom prst="roundRect">
            <a:avLst>
              <a:gd name="adj" fmla="val 3430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30623"/>
            <a:ext cx="8394192" cy="95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"Research Division",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"positions": [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"director", "title": "Research Director",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"agent": "strategic_agent",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"human_mirror": "john.smith@company.com",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"autonomy": "supervised"},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"lead1", "title": "Team Lead",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"agent": "ai_specialist",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"reports_to": "director",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"autonomy": "semi_autonomous"},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{"id": "analyst1", "title": "Analyst",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"agent": "research_agent",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"reports_to": "lead1"}</a:t>
            </a:r>
            <a:endParaRPr lang="en-US" sz="450" dirty="0"/>
          </a:p>
          <a:p>
            <a:pPr algn="l" indent="0" marL="0">
              <a:lnSpc>
                <a:spcPts val="540"/>
              </a:lnSpc>
              <a:buNone/>
            </a:pPr>
            <a:r>
              <a:rPr lang="en-US" sz="450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]}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381000" y="3241477"/>
            <a:ext cx="8382000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298627"/>
            <a:ext cx="8433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Mirrors real org | Clear accountability | Scalable AI teams | Human oversight built-in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146707" y="2156520"/>
            <a:ext cx="28504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and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80451" y="2689920"/>
            <a:ext cx="1783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access control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905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99791"/>
            <a:ext cx="8382000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975991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137916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Individual accounts with authentication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254002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Admin, Developer, Analyst, Viewer (+ custom)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370088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Permissions: Granular actions per resource type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486174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Access: Control which models each role can use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2602260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Limits: RPM/TPM quotas per role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81000" y="2861221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2861221"/>
            <a:ext cx="0" cy="769144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" y="2937421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3099346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Keys: Scoped keys with expiration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75" y="3215432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Logs: Every action recorded with user/timestamp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85775" y="3331518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Limiting: Prevent abuse and cost overruns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85775" y="3447604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Isolation: Multi-tenant data separation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675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Integration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957834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034034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Channels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195959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Slack: Bot integration with interactive buttons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312045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Teams: Webhook and bot support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428131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SMTP with templates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544217"/>
            <a:ext cx="8394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Webhooks: POST to any endpoint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81000" y="2803178"/>
            <a:ext cx="8382000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803178"/>
            <a:ext cx="0" cy="769144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75" y="2879378"/>
            <a:ext cx="8365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 Integration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5775" y="3041303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Mirror Alerts: Notify when AI needs approval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85775" y="3157389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Escalation: Auto-escalate if no response in timeout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75" y="3273475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Buttons: Approve/Reject from notification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85775" y="3389561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Reports: Daily/weekly AI activity digests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9" name="Text 17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785501" y="2156520"/>
            <a:ext cx="15728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01323" y="2689920"/>
            <a:ext cx="21412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with examples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267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Customer Service Bot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322463"/>
            <a:ext cx="3706118" cy="88523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398663"/>
            <a:ext cx="362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560588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auto-resolution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676674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792760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FAQ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908846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7200" y="3024932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for complaints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163318" y="2529036"/>
            <a:ext cx="4599682" cy="472083"/>
          </a:xfrm>
          <a:prstGeom prst="roundRect">
            <a:avLst>
              <a:gd name="adj" fmla="val 8071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39518" y="2605236"/>
            <a:ext cx="4536228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"Support Bot",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["rag", "api"],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{"enabled": true}}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092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Document Analysis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380506"/>
            <a:ext cx="3706118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456706"/>
            <a:ext cx="362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618631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faster review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734717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pipeline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850803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parsing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966889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163318" y="2529036"/>
            <a:ext cx="4599682" cy="472083"/>
          </a:xfrm>
          <a:prstGeom prst="roundRect">
            <a:avLst>
              <a:gd name="adj" fmla="val 8071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39518" y="2605236"/>
            <a:ext cx="4536228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"Contract Review",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["rag", "api"],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{"enabled": true}}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292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Research and Reports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380506"/>
            <a:ext cx="3706118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456706"/>
            <a:ext cx="362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618631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minutes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734717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 with swarm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850803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Web+DB search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966889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aggregates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163318" y="2529036"/>
            <a:ext cx="4599682" cy="472083"/>
          </a:xfrm>
          <a:prstGeom prst="roundRect">
            <a:avLst>
              <a:gd name="adj" fmla="val 8071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39518" y="2605236"/>
            <a:ext cx="4536228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"Research Team",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["rag", "api"],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{"enabled": true}}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332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Developer Productivity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38549"/>
            <a:ext cx="3706118" cy="653058"/>
          </a:xfrm>
          <a:prstGeom prst="roundRect">
            <a:avLst>
              <a:gd name="adj" fmla="val 5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514749"/>
            <a:ext cx="362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676674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for privacy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792760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908846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docs and tests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163318" y="2529036"/>
            <a:ext cx="4599682" cy="472083"/>
          </a:xfrm>
          <a:prstGeom prst="roundRect">
            <a:avLst>
              <a:gd name="adj" fmla="val 8071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39518" y="2605236"/>
            <a:ext cx="4536228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"Code Reviewer",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["rag", "api"],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{"enabled": true}}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219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Risk and Compliance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380506"/>
            <a:ext cx="3706118" cy="76914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456706"/>
            <a:ext cx="362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2618631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monitoring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57200" y="2734717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analysis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57200" y="2850803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2966889"/>
            <a:ext cx="36247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163318" y="2529036"/>
            <a:ext cx="4599682" cy="472083"/>
          </a:xfrm>
          <a:prstGeom prst="roundRect">
            <a:avLst>
              <a:gd name="adj" fmla="val 8071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39518" y="2605236"/>
            <a:ext cx="4536228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{"name": "Compliance Swarm",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"provider": "ollama",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"tools": ["rag", "api"],</a:t>
            </a:r>
            <a:endParaRPr lang="en-US" sz="525" dirty="0"/>
          </a:p>
          <a:p>
            <a:pPr algn="l"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7FDB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"hitl": {"enabled": true}}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005527" y="2156520"/>
            <a:ext cx="3132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59507" y="2689920"/>
            <a:ext cx="10249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positioning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17248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Comparison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59484"/>
            <a:ext cx="1238250" cy="182761"/>
          </a:xfrm>
          <a:prstGeom prst="roundRect">
            <a:avLst>
              <a:gd name="adj" fmla="val 208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097584"/>
            <a:ext cx="11464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695450" y="2059484"/>
            <a:ext cx="1709738" cy="182761"/>
          </a:xfrm>
          <a:prstGeom prst="roundRect">
            <a:avLst>
              <a:gd name="adj" fmla="val 20847"/>
            </a:avLst>
          </a:prstGeom>
          <a:solidFill>
            <a:srgbClr val="ED1C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6646" y="2097584"/>
            <a:ext cx="16273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481388" y="2059484"/>
            <a:ext cx="1709738" cy="182761"/>
          </a:xfrm>
          <a:prstGeom prst="roundRect">
            <a:avLst>
              <a:gd name="adj" fmla="val 208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2583" y="2097584"/>
            <a:ext cx="16273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267325" y="2059484"/>
            <a:ext cx="1709738" cy="182761"/>
          </a:xfrm>
          <a:prstGeom prst="roundRect">
            <a:avLst>
              <a:gd name="adj" fmla="val 208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8521" y="2097584"/>
            <a:ext cx="16273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7053263" y="2059484"/>
            <a:ext cx="1709738" cy="182761"/>
          </a:xfrm>
          <a:prstGeom prst="roundRect">
            <a:avLst>
              <a:gd name="adj" fmla="val 208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94458" y="2097584"/>
            <a:ext cx="16273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2318445"/>
            <a:ext cx="1238250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150" y="2356545"/>
            <a:ext cx="114642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1695450" y="231844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36646" y="235654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Native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3481388" y="231844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2583" y="235654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Plugins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5267325" y="231844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08521" y="235654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7053263" y="231844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94458" y="235654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381000" y="2564160"/>
            <a:ext cx="1238250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150" y="2602260"/>
            <a:ext cx="114642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1695450" y="256416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36646" y="260226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DAG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3481388" y="256416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22583" y="260226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5267325" y="256416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8521" y="260226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33" name="Text 31"/>
          <p:cNvSpPr/>
          <p:nvPr/>
        </p:nvSpPr>
        <p:spPr>
          <a:xfrm>
            <a:off x="7053263" y="256416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94458" y="260226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381000" y="2809875"/>
            <a:ext cx="1238250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8150" y="2847975"/>
            <a:ext cx="114642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 Hierarchy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1695450" y="280987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36646" y="284797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</a:t>
            </a:r>
            <a:endParaRPr lang="en-US" sz="525" dirty="0"/>
          </a:p>
        </p:txBody>
      </p:sp>
      <p:sp>
        <p:nvSpPr>
          <p:cNvPr id="39" name="Text 37"/>
          <p:cNvSpPr/>
          <p:nvPr/>
        </p:nvSpPr>
        <p:spPr>
          <a:xfrm>
            <a:off x="3481388" y="280987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522583" y="284797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5267325" y="280987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08521" y="284797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7053263" y="280987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94458" y="284797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525" dirty="0"/>
          </a:p>
        </p:txBody>
      </p:sp>
      <p:sp>
        <p:nvSpPr>
          <p:cNvPr id="45" name="Text 43"/>
          <p:cNvSpPr/>
          <p:nvPr/>
        </p:nvSpPr>
        <p:spPr>
          <a:xfrm>
            <a:off x="381000" y="3055590"/>
            <a:ext cx="1238250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38150" y="3093690"/>
            <a:ext cx="114642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RBAC</a:t>
            </a:r>
            <a:endParaRPr lang="en-US" sz="525" dirty="0"/>
          </a:p>
        </p:txBody>
      </p:sp>
      <p:sp>
        <p:nvSpPr>
          <p:cNvPr id="47" name="Text 45"/>
          <p:cNvSpPr/>
          <p:nvPr/>
        </p:nvSpPr>
        <p:spPr>
          <a:xfrm>
            <a:off x="1695450" y="305559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36646" y="309369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+ Model</a:t>
            </a:r>
            <a:endParaRPr lang="en-US" sz="525" dirty="0"/>
          </a:p>
        </p:txBody>
      </p:sp>
      <p:sp>
        <p:nvSpPr>
          <p:cNvPr id="49" name="Text 47"/>
          <p:cNvSpPr/>
          <p:nvPr/>
        </p:nvSpPr>
        <p:spPr>
          <a:xfrm>
            <a:off x="3481388" y="305559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522583" y="309369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51" name="Text 49"/>
          <p:cNvSpPr/>
          <p:nvPr/>
        </p:nvSpPr>
        <p:spPr>
          <a:xfrm>
            <a:off x="5267325" y="305559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308521" y="309369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53" name="Text 51"/>
          <p:cNvSpPr/>
          <p:nvPr/>
        </p:nvSpPr>
        <p:spPr>
          <a:xfrm>
            <a:off x="7053263" y="3055590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94458" y="3093690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25" dirty="0"/>
          </a:p>
        </p:txBody>
      </p:sp>
      <p:sp>
        <p:nvSpPr>
          <p:cNvPr id="55" name="Text 53"/>
          <p:cNvSpPr/>
          <p:nvPr/>
        </p:nvSpPr>
        <p:spPr>
          <a:xfrm>
            <a:off x="381000" y="3301305"/>
            <a:ext cx="1238250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38150" y="3339405"/>
            <a:ext cx="114642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Controls</a:t>
            </a:r>
            <a:endParaRPr lang="en-US" sz="525" dirty="0"/>
          </a:p>
        </p:txBody>
      </p:sp>
      <p:sp>
        <p:nvSpPr>
          <p:cNvPr id="57" name="Text 55"/>
          <p:cNvSpPr/>
          <p:nvPr/>
        </p:nvSpPr>
        <p:spPr>
          <a:xfrm>
            <a:off x="1695450" y="330130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736646" y="333940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525" dirty="0"/>
          </a:p>
        </p:txBody>
      </p:sp>
      <p:sp>
        <p:nvSpPr>
          <p:cNvPr id="59" name="Text 57"/>
          <p:cNvSpPr/>
          <p:nvPr/>
        </p:nvSpPr>
        <p:spPr>
          <a:xfrm>
            <a:off x="3481388" y="330130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522583" y="333940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</a:t>
            </a:r>
            <a:endParaRPr lang="en-US" sz="525" dirty="0"/>
          </a:p>
        </p:txBody>
      </p:sp>
      <p:sp>
        <p:nvSpPr>
          <p:cNvPr id="61" name="Text 59"/>
          <p:cNvSpPr/>
          <p:nvPr/>
        </p:nvSpPr>
        <p:spPr>
          <a:xfrm>
            <a:off x="5267325" y="330130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308521" y="333940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525" dirty="0"/>
          </a:p>
        </p:txBody>
      </p:sp>
      <p:sp>
        <p:nvSpPr>
          <p:cNvPr id="63" name="Text 61"/>
          <p:cNvSpPr/>
          <p:nvPr/>
        </p:nvSpPr>
        <p:spPr>
          <a:xfrm>
            <a:off x="7053263" y="3301305"/>
            <a:ext cx="1709738" cy="169515"/>
          </a:xfrm>
          <a:prstGeom prst="roundRect">
            <a:avLst>
              <a:gd name="adj" fmla="val 22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094458" y="3339405"/>
            <a:ext cx="162734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525" dirty="0"/>
          </a:p>
        </p:txBody>
      </p:sp>
      <p:sp>
        <p:nvSpPr>
          <p:cNvPr id="65" name="Text 63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66" name="Text 64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7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95" y="1735634"/>
            <a:ext cx="421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863831" y="2156520"/>
            <a:ext cx="1416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7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38099" y="2689920"/>
            <a:ext cx="18676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 and licensing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630659" y="3301305"/>
            <a:ext cx="18826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2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310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Acknowledgements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962025"/>
            <a:ext cx="4000500" cy="346621"/>
          </a:xfrm>
          <a:prstGeom prst="roundRect">
            <a:avLst>
              <a:gd name="adj" fmla="val 10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962025"/>
            <a:ext cx="0" cy="34662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019175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and AI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66725" y="1158180"/>
            <a:ext cx="39347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LangChain, LlamaIndex, Ollama, OpenAI SDK, Anthropic SDK, Sentence Transformers, ChromaDB, FAISS, Transformers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4457700" y="962025"/>
            <a:ext cx="4000500" cy="346621"/>
          </a:xfrm>
          <a:prstGeom prst="roundRect">
            <a:avLst>
              <a:gd name="adj" fmla="val 10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71988" y="962025"/>
            <a:ext cx="0" cy="34662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3425" y="1019175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543425" y="1158180"/>
            <a:ext cx="39347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Flask, SQLAlchemy, Pydantic, Bootstrap 5, Jinja2, Gunicorn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381000" y="1384846"/>
            <a:ext cx="4000500" cy="346621"/>
          </a:xfrm>
          <a:prstGeom prst="roundRect">
            <a:avLst>
              <a:gd name="adj" fmla="val 10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1384846"/>
            <a:ext cx="0" cy="34662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" y="1441996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6725" y="1581001"/>
            <a:ext cx="39347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PostgreSQL, Redis, Kafka, RabbitMQ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4457700" y="1384846"/>
            <a:ext cx="4000500" cy="346621"/>
          </a:xfrm>
          <a:prstGeom prst="roundRect">
            <a:avLst>
              <a:gd name="adj" fmla="val 109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71988" y="1384846"/>
            <a:ext cx="0" cy="34662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3425" y="1441996"/>
            <a:ext cx="39347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543425" y="1581001"/>
            <a:ext cx="39347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Click, Rich, PyYAML, Requests, aiohttp, NumPy, Pandas, PyPDF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2421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and Intellectual Property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7948166" y="325785"/>
            <a:ext cx="8311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v1.4.6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81000" y="714375"/>
            <a:ext cx="8382000" cy="19050"/>
          </a:xfrm>
          <a:prstGeom prst="roundRect">
            <a:avLst>
              <a:gd name="adj" fmla="val 100000"/>
            </a:avLst>
          </a:prstGeom>
          <a:solidFill>
            <a:srgbClr val="0079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867198"/>
            <a:ext cx="8382000" cy="495151"/>
          </a:xfrm>
          <a:prstGeom prst="roundRect">
            <a:avLst>
              <a:gd name="adj" fmla="val 76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1867198"/>
            <a:ext cx="0" cy="495151"/>
          </a:xfrm>
          <a:prstGeom prst="line">
            <a:avLst/>
          </a:prstGeom>
          <a:noFill/>
          <a:ln w="28575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825" y="1962448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License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2147143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 is proprietary software. All rights reserved. Unauthorized copying, modification, distribution, or use is strictly prohibited.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438549"/>
            <a:ext cx="8382000" cy="495151"/>
          </a:xfrm>
          <a:prstGeom prst="roundRect">
            <a:avLst>
              <a:gd name="adj" fmla="val 76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5288" y="2438549"/>
            <a:ext cx="0" cy="495151"/>
          </a:xfrm>
          <a:prstGeom prst="line">
            <a:avLst/>
          </a:prstGeom>
          <a:noFill/>
          <a:ln w="28575">
            <a:solidFill>
              <a:srgbClr val="0079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" y="2533799"/>
            <a:ext cx="8326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4825" y="2718495"/>
            <a:ext cx="8326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Organization Management technology and hierarchical AI governance framework are patent pending innovations.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009900"/>
            <a:ext cx="8382000" cy="65320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310515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" y="3289846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Sinha. All Rights Reserved.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76250" y="3447901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ajsinha@gmail.com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81000" y="4777829"/>
            <a:ext cx="141208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Patent Pending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8699302" y="4777829"/>
            <a:ext cx="649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"/>
              </a:lnSpc>
              <a:buNone/>
            </a:pPr>
            <a:r>
              <a:rPr lang="en-US" sz="45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7926" y="1316534"/>
            <a:ext cx="20481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003340" y="1983284"/>
            <a:ext cx="11373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900"/>
              </a:spcBef>
              <a:buNone/>
            </a:pPr>
            <a:r>
              <a:rPr lang="en-US" sz="13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Abhikarta-LLM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463827" y="2432745"/>
            <a:ext cx="22161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Orchestration Platform v1.4.6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37905" y="2935635"/>
            <a:ext cx="1300311" cy="403771"/>
          </a:xfrm>
          <a:prstGeom prst="roundRect">
            <a:avLst>
              <a:gd name="adj" fmla="val 14154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0350" y="3030885"/>
            <a:ext cx="10154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Providers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0616" y="2935635"/>
            <a:ext cx="1215479" cy="403771"/>
          </a:xfrm>
          <a:prstGeom prst="roundRect">
            <a:avLst>
              <a:gd name="adj" fmla="val 14154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3909" y="3030885"/>
            <a:ext cx="9288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9802" y="3720405"/>
            <a:ext cx="26242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800"/>
              </a:spcBef>
              <a:buNone/>
            </a:pPr>
            <a:r>
              <a:rPr lang="en-US" sz="600" dirty="0">
                <a:solidFill>
                  <a:srgbClr val="5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2025-2030 Ashutosh Sinha | All Rights Reserved | Patent Pending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Abhikarta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Abhikarta-LLM</dc:title>
  <dc:subject>Enterprise AI Orchestration Platform</dc:subject>
  <dc:creator>Ashutosh Sinha</dc:creator>
  <cp:lastModifiedBy>Ashutosh Sinha</cp:lastModifiedBy>
  <cp:revision>1</cp:revision>
  <dcterms:created xsi:type="dcterms:W3CDTF">2025-12-31T20:44:14Z</dcterms:created>
  <dcterms:modified xsi:type="dcterms:W3CDTF">2025-12-31T20:44:14Z</dcterms:modified>
</cp:coreProperties>
</file>